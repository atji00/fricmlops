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67" r:id="rId4"/>
    <p:sldId id="268" r:id="rId5"/>
    <p:sldId id="269" r:id="rId6"/>
    <p:sldId id="263" r:id="rId7"/>
    <p:sldId id="271"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115" d="100"/>
          <a:sy n="115" d="100"/>
        </p:scale>
        <p:origin x="74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3/23/2025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08386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3/23/2025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554749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3/23/2025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798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3/23/2025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929346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3/23/2025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201679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3/23/2025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31579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3/23/2025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01790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3/23/2025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578352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3/23/2025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74275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3/23/2025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35961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3/23/2025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79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3/23/2025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13064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3" descr="Une rafale de bleu et de rose">
            <a:extLst>
              <a:ext uri="{FF2B5EF4-FFF2-40B4-BE49-F238E27FC236}">
                <a16:creationId xmlns:a16="http://schemas.microsoft.com/office/drawing/2014/main" id="{A8F38E63-F2F8-89DD-D74D-A3E3908177AF}"/>
              </a:ext>
            </a:extLst>
          </p:cNvPr>
          <p:cNvPicPr>
            <a:picLocks noChangeAspect="1"/>
          </p:cNvPicPr>
          <p:nvPr/>
        </p:nvPicPr>
        <p:blipFill>
          <a:blip r:embed="rId2"/>
          <a:srcRect/>
          <a:stretch/>
        </p:blipFill>
        <p:spPr>
          <a:xfrm>
            <a:off x="1" y="10"/>
            <a:ext cx="12192000" cy="6857990"/>
          </a:xfrm>
          <a:prstGeom prst="rect">
            <a:avLst/>
          </a:prstGeom>
        </p:spPr>
      </p:pic>
      <p:sp useBgFill="1">
        <p:nvSpPr>
          <p:cNvPr id="17" name="Rectangle 16">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C2DC768-770F-9277-C3C6-6C723B2AE6B3}"/>
              </a:ext>
            </a:extLst>
          </p:cNvPr>
          <p:cNvSpPr>
            <a:spLocks noGrp="1"/>
          </p:cNvSpPr>
          <p:nvPr>
            <p:ph type="ctrTitle"/>
          </p:nvPr>
        </p:nvSpPr>
        <p:spPr>
          <a:xfrm>
            <a:off x="898737" y="1562101"/>
            <a:ext cx="4359744" cy="2738530"/>
          </a:xfrm>
        </p:spPr>
        <p:txBody>
          <a:bodyPr anchor="t">
            <a:normAutofit/>
          </a:bodyPr>
          <a:lstStyle/>
          <a:p>
            <a:r>
              <a:rPr lang="fr-FR" dirty="0" err="1"/>
              <a:t>MLOps</a:t>
            </a:r>
            <a:br>
              <a:rPr lang="fr-FR" dirty="0"/>
            </a:br>
            <a:br>
              <a:rPr lang="fr-FR" dirty="0"/>
            </a:br>
            <a:r>
              <a:rPr lang="fr-FR" sz="2200" dirty="0"/>
              <a:t>Lien AWS : http://16.16.78.34:5000</a:t>
            </a:r>
          </a:p>
        </p:txBody>
      </p:sp>
      <p:sp>
        <p:nvSpPr>
          <p:cNvPr id="3" name="Sous-titre 2">
            <a:extLst>
              <a:ext uri="{FF2B5EF4-FFF2-40B4-BE49-F238E27FC236}">
                <a16:creationId xmlns:a16="http://schemas.microsoft.com/office/drawing/2014/main" id="{4A25E551-0C39-E608-0D9E-F5B7F817F1C7}"/>
              </a:ext>
            </a:extLst>
          </p:cNvPr>
          <p:cNvSpPr>
            <a:spLocks noGrp="1"/>
          </p:cNvSpPr>
          <p:nvPr>
            <p:ph type="subTitle" idx="1"/>
          </p:nvPr>
        </p:nvSpPr>
        <p:spPr>
          <a:xfrm>
            <a:off x="900273" y="4300631"/>
            <a:ext cx="4358208" cy="933760"/>
          </a:xfrm>
        </p:spPr>
        <p:txBody>
          <a:bodyPr>
            <a:normAutofit fontScale="62500" lnSpcReduction="20000"/>
          </a:bodyPr>
          <a:lstStyle/>
          <a:p>
            <a:r>
              <a:rPr lang="en-US" sz="1800" spc="586" dirty="0">
                <a:latin typeface="Daytona" panose="020F0502020204030204" pitchFamily="34" charset="0"/>
                <a:ea typeface="Lato"/>
                <a:cs typeface="Lato"/>
                <a:sym typeface="Lato"/>
              </a:rPr>
              <a:t>SANOGO_FANTA, </a:t>
            </a:r>
            <a:r>
              <a:rPr lang="en-US" sz="1800" spc="586" dirty="0" err="1">
                <a:latin typeface="Daytona" panose="020F0502020204030204" pitchFamily="34" charset="0"/>
                <a:ea typeface="Lato"/>
                <a:cs typeface="Lato"/>
                <a:sym typeface="Lato"/>
              </a:rPr>
              <a:t>ATJI_Cheick</a:t>
            </a:r>
            <a:r>
              <a:rPr lang="en-US" sz="1800" spc="586" dirty="0">
                <a:latin typeface="Daytona" panose="020F0502020204030204" pitchFamily="34" charset="0"/>
                <a:ea typeface="Lato"/>
                <a:cs typeface="Lato"/>
                <a:sym typeface="Lato"/>
              </a:rPr>
              <a:t>, </a:t>
            </a:r>
            <a:r>
              <a:rPr lang="en-US" sz="1800" spc="586" dirty="0" err="1">
                <a:latin typeface="Daytona" panose="020F0502020204030204" pitchFamily="34" charset="0"/>
                <a:ea typeface="Lato"/>
                <a:cs typeface="Lato"/>
                <a:sym typeface="Lato"/>
              </a:rPr>
              <a:t>WABO_Robin</a:t>
            </a:r>
            <a:r>
              <a:rPr lang="en-US" spc="586" dirty="0">
                <a:latin typeface="Daytona" panose="020F0502020204030204" pitchFamily="34" charset="0"/>
                <a:ea typeface="Lato"/>
                <a:cs typeface="Lato"/>
                <a:sym typeface="Lato"/>
              </a:rPr>
              <a:t>,</a:t>
            </a:r>
            <a:r>
              <a:rPr lang="en-US" sz="1800" spc="586" dirty="0">
                <a:latin typeface="Daytona" panose="020F0502020204030204" pitchFamily="34" charset="0"/>
                <a:ea typeface="Lato"/>
                <a:cs typeface="Lato"/>
                <a:sym typeface="Lato"/>
              </a:rPr>
              <a:t> </a:t>
            </a:r>
            <a:r>
              <a:rPr lang="en-US" sz="1800" spc="586" dirty="0" err="1">
                <a:latin typeface="Daytona" panose="020F0502020204030204" pitchFamily="34" charset="0"/>
                <a:ea typeface="Lato"/>
                <a:cs typeface="Lato"/>
                <a:sym typeface="Lato"/>
              </a:rPr>
              <a:t>BENLARBI_Ilias</a:t>
            </a:r>
            <a:endParaRPr lang="en-US" sz="1800" spc="586" dirty="0">
              <a:latin typeface="Daytona" panose="020F0502020204030204" pitchFamily="34" charset="0"/>
              <a:ea typeface="Lato"/>
              <a:cs typeface="Lato"/>
              <a:sym typeface="Lato"/>
            </a:endParaRPr>
          </a:p>
        </p:txBody>
      </p:sp>
      <p:cxnSp>
        <p:nvCxnSpPr>
          <p:cNvPr id="18"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080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57A3D-DBEF-0960-1F09-87A17DD891BA}"/>
              </a:ext>
            </a:extLst>
          </p:cNvPr>
          <p:cNvSpPr>
            <a:spLocks noGrp="1"/>
          </p:cNvSpPr>
          <p:nvPr>
            <p:ph type="title"/>
          </p:nvPr>
        </p:nvSpPr>
        <p:spPr/>
        <p:txBody>
          <a:bodyPr>
            <a:normAutofit fontScale="90000"/>
          </a:bodyPr>
          <a:lstStyle/>
          <a:p>
            <a:r>
              <a:rPr lang="fr-FR" dirty="0"/>
              <a:t>SUJET : Loan Default </a:t>
            </a:r>
            <a:r>
              <a:rPr lang="fr-FR" dirty="0" err="1"/>
              <a:t>Prediction</a:t>
            </a:r>
            <a:br>
              <a:rPr lang="fr-FR" dirty="0"/>
            </a:br>
            <a:endParaRPr lang="fr-FR" dirty="0"/>
          </a:p>
        </p:txBody>
      </p:sp>
      <p:sp>
        <p:nvSpPr>
          <p:cNvPr id="3" name="Espace réservé du contenu 2">
            <a:extLst>
              <a:ext uri="{FF2B5EF4-FFF2-40B4-BE49-F238E27FC236}">
                <a16:creationId xmlns:a16="http://schemas.microsoft.com/office/drawing/2014/main" id="{1A2F7F9E-3236-CF29-AB77-402C2F2F8E8A}"/>
              </a:ext>
            </a:extLst>
          </p:cNvPr>
          <p:cNvSpPr>
            <a:spLocks noGrp="1"/>
          </p:cNvSpPr>
          <p:nvPr>
            <p:ph idx="1"/>
          </p:nvPr>
        </p:nvSpPr>
        <p:spPr>
          <a:xfrm>
            <a:off x="640080" y="3160642"/>
            <a:ext cx="10890928" cy="3038989"/>
          </a:xfrm>
        </p:spPr>
        <p:txBody>
          <a:bodyPr>
            <a:normAutofit/>
          </a:bodyPr>
          <a:lstStyle/>
          <a:p>
            <a:pPr marL="0" indent="0">
              <a:buNone/>
            </a:pPr>
            <a:r>
              <a:rPr lang="fr-FR" dirty="0"/>
              <a:t>Objectif : L'équipe de risque analyse le portefeuille de prêts existants pour prévoir les défauts potentiels futurs et estimer la perte attendue. L'objectif principal est de construire un modèle prédictif qui estime la probabilité de défaut pour chaque client en fonction de ses caractéristiques. Des prédictions précises permettront à la banque d'allouer suffisamment de capital pour couvrir les pertes potentielles, maintenant ainsi la stabilité financière.</a:t>
            </a:r>
          </a:p>
          <a:p>
            <a:pPr marL="0" indent="0">
              <a:buNone/>
            </a:pPr>
            <a:endParaRPr lang="fr-FR" dirty="0"/>
          </a:p>
          <a:p>
            <a:pPr marL="0" indent="0">
              <a:buNone/>
            </a:pPr>
            <a:endParaRPr lang="fr-FR" dirty="0"/>
          </a:p>
          <a:p>
            <a:pPr marL="0" indent="0">
              <a:buNone/>
            </a:pPr>
            <a:endParaRPr lang="fr-FR" dirty="0"/>
          </a:p>
        </p:txBody>
      </p:sp>
      <p:grpSp>
        <p:nvGrpSpPr>
          <p:cNvPr id="4" name="Group 7">
            <a:extLst>
              <a:ext uri="{FF2B5EF4-FFF2-40B4-BE49-F238E27FC236}">
                <a16:creationId xmlns:a16="http://schemas.microsoft.com/office/drawing/2014/main" id="{1493BEFE-BA18-313B-A4A6-33A211899738}"/>
              </a:ext>
            </a:extLst>
          </p:cNvPr>
          <p:cNvGrpSpPr/>
          <p:nvPr/>
        </p:nvGrpSpPr>
        <p:grpSpPr>
          <a:xfrm>
            <a:off x="271670" y="205281"/>
            <a:ext cx="1767395" cy="666230"/>
            <a:chOff x="0" y="0"/>
            <a:chExt cx="5603084" cy="2112116"/>
          </a:xfrm>
        </p:grpSpPr>
        <p:sp>
          <p:nvSpPr>
            <p:cNvPr id="5" name="Freeform 8">
              <a:extLst>
                <a:ext uri="{FF2B5EF4-FFF2-40B4-BE49-F238E27FC236}">
                  <a16:creationId xmlns:a16="http://schemas.microsoft.com/office/drawing/2014/main" id="{7C32DC87-FF58-9A6E-10DA-47E932312991}"/>
                </a:ext>
              </a:extLst>
            </p:cNvPr>
            <p:cNvSpPr/>
            <p:nvPr/>
          </p:nvSpPr>
          <p:spPr>
            <a:xfrm>
              <a:off x="0" y="0"/>
              <a:ext cx="5603113" cy="2112137"/>
            </a:xfrm>
            <a:custGeom>
              <a:avLst/>
              <a:gdLst/>
              <a:ahLst/>
              <a:cxnLst/>
              <a:rect l="l" t="t" r="r" b="b"/>
              <a:pathLst>
                <a:path w="5603113" h="2112137">
                  <a:moveTo>
                    <a:pt x="0" y="0"/>
                  </a:moveTo>
                  <a:lnTo>
                    <a:pt x="5603113" y="0"/>
                  </a:lnTo>
                  <a:lnTo>
                    <a:pt x="5603113" y="2112137"/>
                  </a:lnTo>
                  <a:lnTo>
                    <a:pt x="0" y="2112137"/>
                  </a:lnTo>
                  <a:lnTo>
                    <a:pt x="0" y="0"/>
                  </a:lnTo>
                  <a:close/>
                </a:path>
              </a:pathLst>
            </a:custGeom>
            <a:blipFill>
              <a:blip r:embed="rId2"/>
              <a:stretch>
                <a:fillRect l="-53" r="-52"/>
              </a:stretch>
            </a:blipFill>
          </p:spPr>
          <p:txBody>
            <a:bodyPr/>
            <a:lstStyle/>
            <a:p>
              <a:endParaRPr lang="fr-FR"/>
            </a:p>
          </p:txBody>
        </p:sp>
      </p:grpSp>
    </p:spTree>
    <p:extLst>
      <p:ext uri="{BB962C8B-B14F-4D97-AF65-F5344CB8AC3E}">
        <p14:creationId xmlns:p14="http://schemas.microsoft.com/office/powerpoint/2010/main" val="3157843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57A3D-DBEF-0960-1F09-87A17DD891BA}"/>
              </a:ext>
            </a:extLst>
          </p:cNvPr>
          <p:cNvSpPr>
            <a:spLocks noGrp="1"/>
          </p:cNvSpPr>
          <p:nvPr>
            <p:ph type="title"/>
          </p:nvPr>
        </p:nvSpPr>
        <p:spPr>
          <a:xfrm>
            <a:off x="2680915" y="325250"/>
            <a:ext cx="6986546" cy="666237"/>
          </a:xfrm>
        </p:spPr>
        <p:txBody>
          <a:bodyPr>
            <a:normAutofit/>
          </a:bodyPr>
          <a:lstStyle/>
          <a:p>
            <a:r>
              <a:rPr lang="fr-FR" sz="2800" dirty="0" err="1"/>
              <a:t>Random</a:t>
            </a:r>
            <a:r>
              <a:rPr lang="fr-FR" sz="2800" dirty="0"/>
              <a:t> Forest </a:t>
            </a:r>
            <a:r>
              <a:rPr lang="fr-FR" sz="2800" dirty="0" err="1"/>
              <a:t>experiment</a:t>
            </a:r>
            <a:endParaRPr lang="fr-FR" sz="2800" dirty="0"/>
          </a:p>
        </p:txBody>
      </p:sp>
      <p:grpSp>
        <p:nvGrpSpPr>
          <p:cNvPr id="4" name="Group 7">
            <a:extLst>
              <a:ext uri="{FF2B5EF4-FFF2-40B4-BE49-F238E27FC236}">
                <a16:creationId xmlns:a16="http://schemas.microsoft.com/office/drawing/2014/main" id="{1493BEFE-BA18-313B-A4A6-33A211899738}"/>
              </a:ext>
            </a:extLst>
          </p:cNvPr>
          <p:cNvGrpSpPr/>
          <p:nvPr/>
        </p:nvGrpSpPr>
        <p:grpSpPr>
          <a:xfrm>
            <a:off x="271670" y="205281"/>
            <a:ext cx="1767395" cy="666230"/>
            <a:chOff x="0" y="0"/>
            <a:chExt cx="5603084" cy="2112116"/>
          </a:xfrm>
        </p:grpSpPr>
        <p:sp>
          <p:nvSpPr>
            <p:cNvPr id="5" name="Freeform 8">
              <a:extLst>
                <a:ext uri="{FF2B5EF4-FFF2-40B4-BE49-F238E27FC236}">
                  <a16:creationId xmlns:a16="http://schemas.microsoft.com/office/drawing/2014/main" id="{7C32DC87-FF58-9A6E-10DA-47E932312991}"/>
                </a:ext>
              </a:extLst>
            </p:cNvPr>
            <p:cNvSpPr/>
            <p:nvPr/>
          </p:nvSpPr>
          <p:spPr>
            <a:xfrm>
              <a:off x="0" y="0"/>
              <a:ext cx="5603113" cy="2112137"/>
            </a:xfrm>
            <a:custGeom>
              <a:avLst/>
              <a:gdLst/>
              <a:ahLst/>
              <a:cxnLst/>
              <a:rect l="l" t="t" r="r" b="b"/>
              <a:pathLst>
                <a:path w="5603113" h="2112137">
                  <a:moveTo>
                    <a:pt x="0" y="0"/>
                  </a:moveTo>
                  <a:lnTo>
                    <a:pt x="5603113" y="0"/>
                  </a:lnTo>
                  <a:lnTo>
                    <a:pt x="5603113" y="2112137"/>
                  </a:lnTo>
                  <a:lnTo>
                    <a:pt x="0" y="2112137"/>
                  </a:lnTo>
                  <a:lnTo>
                    <a:pt x="0" y="0"/>
                  </a:lnTo>
                  <a:close/>
                </a:path>
              </a:pathLst>
            </a:custGeom>
            <a:blipFill>
              <a:blip r:embed="rId2"/>
              <a:stretch>
                <a:fillRect l="-53" r="-52"/>
              </a:stretch>
            </a:blipFill>
          </p:spPr>
          <p:txBody>
            <a:bodyPr/>
            <a:lstStyle/>
            <a:p>
              <a:endParaRPr lang="fr-FR"/>
            </a:p>
          </p:txBody>
        </p:sp>
      </p:grpSp>
      <p:pic>
        <p:nvPicPr>
          <p:cNvPr id="9" name="Espace réservé du contenu 8" descr="Une image contenant capture d’écran, texte, logiciel, Logiciel multimédia&#10;&#10;Le contenu généré par l’IA peut être incorrect.">
            <a:extLst>
              <a:ext uri="{FF2B5EF4-FFF2-40B4-BE49-F238E27FC236}">
                <a16:creationId xmlns:a16="http://schemas.microsoft.com/office/drawing/2014/main" id="{5282F25C-A5DA-A107-0242-9F39CD8D4B5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4581" y="1427716"/>
            <a:ext cx="10945216" cy="4959016"/>
          </a:xfrm>
        </p:spPr>
      </p:pic>
    </p:spTree>
    <p:extLst>
      <p:ext uri="{BB962C8B-B14F-4D97-AF65-F5344CB8AC3E}">
        <p14:creationId xmlns:p14="http://schemas.microsoft.com/office/powerpoint/2010/main" val="159843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57A3D-DBEF-0960-1F09-87A17DD891BA}"/>
              </a:ext>
            </a:extLst>
          </p:cNvPr>
          <p:cNvSpPr>
            <a:spLocks noGrp="1"/>
          </p:cNvSpPr>
          <p:nvPr>
            <p:ph type="title"/>
          </p:nvPr>
        </p:nvSpPr>
        <p:spPr>
          <a:xfrm>
            <a:off x="2680915" y="325250"/>
            <a:ext cx="6986546" cy="666237"/>
          </a:xfrm>
        </p:spPr>
        <p:txBody>
          <a:bodyPr>
            <a:normAutofit/>
          </a:bodyPr>
          <a:lstStyle/>
          <a:p>
            <a:r>
              <a:rPr lang="fr-FR" sz="2800" dirty="0" err="1"/>
              <a:t>Decision</a:t>
            </a:r>
            <a:r>
              <a:rPr lang="fr-FR" sz="2800" dirty="0"/>
              <a:t> </a:t>
            </a:r>
            <a:r>
              <a:rPr lang="fr-FR" sz="2800" dirty="0" err="1"/>
              <a:t>Three</a:t>
            </a:r>
            <a:r>
              <a:rPr lang="fr-FR" sz="2800" dirty="0"/>
              <a:t> </a:t>
            </a:r>
            <a:r>
              <a:rPr lang="fr-FR" sz="2800" dirty="0" err="1"/>
              <a:t>experiment</a:t>
            </a:r>
            <a:endParaRPr lang="fr-FR" sz="2800" dirty="0"/>
          </a:p>
        </p:txBody>
      </p:sp>
      <p:grpSp>
        <p:nvGrpSpPr>
          <p:cNvPr id="4" name="Group 7">
            <a:extLst>
              <a:ext uri="{FF2B5EF4-FFF2-40B4-BE49-F238E27FC236}">
                <a16:creationId xmlns:a16="http://schemas.microsoft.com/office/drawing/2014/main" id="{1493BEFE-BA18-313B-A4A6-33A211899738}"/>
              </a:ext>
            </a:extLst>
          </p:cNvPr>
          <p:cNvGrpSpPr/>
          <p:nvPr/>
        </p:nvGrpSpPr>
        <p:grpSpPr>
          <a:xfrm>
            <a:off x="271670" y="205281"/>
            <a:ext cx="1767395" cy="666230"/>
            <a:chOff x="0" y="0"/>
            <a:chExt cx="5603084" cy="2112116"/>
          </a:xfrm>
        </p:grpSpPr>
        <p:sp>
          <p:nvSpPr>
            <p:cNvPr id="5" name="Freeform 8">
              <a:extLst>
                <a:ext uri="{FF2B5EF4-FFF2-40B4-BE49-F238E27FC236}">
                  <a16:creationId xmlns:a16="http://schemas.microsoft.com/office/drawing/2014/main" id="{7C32DC87-FF58-9A6E-10DA-47E932312991}"/>
                </a:ext>
              </a:extLst>
            </p:cNvPr>
            <p:cNvSpPr/>
            <p:nvPr/>
          </p:nvSpPr>
          <p:spPr>
            <a:xfrm>
              <a:off x="0" y="0"/>
              <a:ext cx="5603113" cy="2112137"/>
            </a:xfrm>
            <a:custGeom>
              <a:avLst/>
              <a:gdLst/>
              <a:ahLst/>
              <a:cxnLst/>
              <a:rect l="l" t="t" r="r" b="b"/>
              <a:pathLst>
                <a:path w="5603113" h="2112137">
                  <a:moveTo>
                    <a:pt x="0" y="0"/>
                  </a:moveTo>
                  <a:lnTo>
                    <a:pt x="5603113" y="0"/>
                  </a:lnTo>
                  <a:lnTo>
                    <a:pt x="5603113" y="2112137"/>
                  </a:lnTo>
                  <a:lnTo>
                    <a:pt x="0" y="2112137"/>
                  </a:lnTo>
                  <a:lnTo>
                    <a:pt x="0" y="0"/>
                  </a:lnTo>
                  <a:close/>
                </a:path>
              </a:pathLst>
            </a:custGeom>
            <a:blipFill>
              <a:blip r:embed="rId2"/>
              <a:stretch>
                <a:fillRect l="-53" r="-52"/>
              </a:stretch>
            </a:blipFill>
          </p:spPr>
          <p:txBody>
            <a:bodyPr/>
            <a:lstStyle/>
            <a:p>
              <a:endParaRPr lang="fr-FR"/>
            </a:p>
          </p:txBody>
        </p:sp>
      </p:grpSp>
      <p:pic>
        <p:nvPicPr>
          <p:cNvPr id="9" name="Espace réservé du contenu 8" descr="Une image contenant capture d’écran, Logiciel multimédia, logiciel, Logiciel de graphisme&#10;&#10;Le contenu généré par l’IA peut être incorrect.">
            <a:extLst>
              <a:ext uri="{FF2B5EF4-FFF2-40B4-BE49-F238E27FC236}">
                <a16:creationId xmlns:a16="http://schemas.microsoft.com/office/drawing/2014/main" id="{29CFC75C-1BA7-00EE-E846-F9C4EC2D04B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2480" y="1480112"/>
            <a:ext cx="10824554" cy="4880663"/>
          </a:xfrm>
        </p:spPr>
      </p:pic>
    </p:spTree>
    <p:extLst>
      <p:ext uri="{BB962C8B-B14F-4D97-AF65-F5344CB8AC3E}">
        <p14:creationId xmlns:p14="http://schemas.microsoft.com/office/powerpoint/2010/main" val="163886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57A3D-DBEF-0960-1F09-87A17DD891BA}"/>
              </a:ext>
            </a:extLst>
          </p:cNvPr>
          <p:cNvSpPr>
            <a:spLocks noGrp="1"/>
          </p:cNvSpPr>
          <p:nvPr>
            <p:ph type="title"/>
          </p:nvPr>
        </p:nvSpPr>
        <p:spPr>
          <a:xfrm>
            <a:off x="2680915" y="325250"/>
            <a:ext cx="6986546" cy="666237"/>
          </a:xfrm>
        </p:spPr>
        <p:txBody>
          <a:bodyPr>
            <a:normAutofit/>
          </a:bodyPr>
          <a:lstStyle/>
          <a:p>
            <a:r>
              <a:rPr lang="fr-FR" sz="2800" dirty="0" err="1"/>
              <a:t>XGBoost</a:t>
            </a:r>
            <a:r>
              <a:rPr lang="fr-FR" sz="2800" dirty="0"/>
              <a:t> </a:t>
            </a:r>
            <a:r>
              <a:rPr lang="fr-FR" sz="2800" dirty="0" err="1"/>
              <a:t>experiment</a:t>
            </a:r>
            <a:endParaRPr lang="fr-FR" sz="2800" dirty="0"/>
          </a:p>
        </p:txBody>
      </p:sp>
      <p:grpSp>
        <p:nvGrpSpPr>
          <p:cNvPr id="4" name="Group 7">
            <a:extLst>
              <a:ext uri="{FF2B5EF4-FFF2-40B4-BE49-F238E27FC236}">
                <a16:creationId xmlns:a16="http://schemas.microsoft.com/office/drawing/2014/main" id="{1493BEFE-BA18-313B-A4A6-33A211899738}"/>
              </a:ext>
            </a:extLst>
          </p:cNvPr>
          <p:cNvGrpSpPr/>
          <p:nvPr/>
        </p:nvGrpSpPr>
        <p:grpSpPr>
          <a:xfrm>
            <a:off x="271670" y="205281"/>
            <a:ext cx="1767395" cy="666230"/>
            <a:chOff x="0" y="0"/>
            <a:chExt cx="5603084" cy="2112116"/>
          </a:xfrm>
        </p:grpSpPr>
        <p:sp>
          <p:nvSpPr>
            <p:cNvPr id="5" name="Freeform 8">
              <a:extLst>
                <a:ext uri="{FF2B5EF4-FFF2-40B4-BE49-F238E27FC236}">
                  <a16:creationId xmlns:a16="http://schemas.microsoft.com/office/drawing/2014/main" id="{7C32DC87-FF58-9A6E-10DA-47E932312991}"/>
                </a:ext>
              </a:extLst>
            </p:cNvPr>
            <p:cNvSpPr/>
            <p:nvPr/>
          </p:nvSpPr>
          <p:spPr>
            <a:xfrm>
              <a:off x="0" y="0"/>
              <a:ext cx="5603113" cy="2112137"/>
            </a:xfrm>
            <a:custGeom>
              <a:avLst/>
              <a:gdLst/>
              <a:ahLst/>
              <a:cxnLst/>
              <a:rect l="l" t="t" r="r" b="b"/>
              <a:pathLst>
                <a:path w="5603113" h="2112137">
                  <a:moveTo>
                    <a:pt x="0" y="0"/>
                  </a:moveTo>
                  <a:lnTo>
                    <a:pt x="5603113" y="0"/>
                  </a:lnTo>
                  <a:lnTo>
                    <a:pt x="5603113" y="2112137"/>
                  </a:lnTo>
                  <a:lnTo>
                    <a:pt x="0" y="2112137"/>
                  </a:lnTo>
                  <a:lnTo>
                    <a:pt x="0" y="0"/>
                  </a:lnTo>
                  <a:close/>
                </a:path>
              </a:pathLst>
            </a:custGeom>
            <a:blipFill>
              <a:blip r:embed="rId2"/>
              <a:stretch>
                <a:fillRect l="-53" r="-52"/>
              </a:stretch>
            </a:blipFill>
          </p:spPr>
          <p:txBody>
            <a:bodyPr/>
            <a:lstStyle/>
            <a:p>
              <a:endParaRPr lang="fr-FR"/>
            </a:p>
          </p:txBody>
        </p:sp>
      </p:grpSp>
      <p:pic>
        <p:nvPicPr>
          <p:cNvPr id="9" name="Espace réservé du contenu 8" descr="Une image contenant capture d’écran, logiciel, Logiciel multimédia, Logiciel de graphisme&#10;&#10;Le contenu généré par l’IA peut être incorrect.">
            <a:extLst>
              <a:ext uri="{FF2B5EF4-FFF2-40B4-BE49-F238E27FC236}">
                <a16:creationId xmlns:a16="http://schemas.microsoft.com/office/drawing/2014/main" id="{0BB8BEB2-E719-E7A3-BFFD-B8A075B8DED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1164" y="1489542"/>
            <a:ext cx="11149672" cy="5043208"/>
          </a:xfrm>
        </p:spPr>
      </p:pic>
    </p:spTree>
    <p:extLst>
      <p:ext uri="{BB962C8B-B14F-4D97-AF65-F5344CB8AC3E}">
        <p14:creationId xmlns:p14="http://schemas.microsoft.com/office/powerpoint/2010/main" val="256824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57A3D-DBEF-0960-1F09-87A17DD891BA}"/>
              </a:ext>
            </a:extLst>
          </p:cNvPr>
          <p:cNvSpPr>
            <a:spLocks noGrp="1"/>
          </p:cNvSpPr>
          <p:nvPr>
            <p:ph type="title"/>
          </p:nvPr>
        </p:nvSpPr>
        <p:spPr>
          <a:xfrm>
            <a:off x="2680915" y="325250"/>
            <a:ext cx="6986546" cy="666237"/>
          </a:xfrm>
        </p:spPr>
        <p:txBody>
          <a:bodyPr>
            <a:normAutofit/>
          </a:bodyPr>
          <a:lstStyle/>
          <a:p>
            <a:r>
              <a:rPr lang="fr-FR" sz="2800" dirty="0"/>
              <a:t>Méthodologie</a:t>
            </a:r>
          </a:p>
        </p:txBody>
      </p:sp>
      <p:sp>
        <p:nvSpPr>
          <p:cNvPr id="3" name="Espace réservé du contenu 2">
            <a:extLst>
              <a:ext uri="{FF2B5EF4-FFF2-40B4-BE49-F238E27FC236}">
                <a16:creationId xmlns:a16="http://schemas.microsoft.com/office/drawing/2014/main" id="{1A2F7F9E-3236-CF29-AB77-402C2F2F8E8A}"/>
              </a:ext>
            </a:extLst>
          </p:cNvPr>
          <p:cNvSpPr>
            <a:spLocks noGrp="1"/>
          </p:cNvSpPr>
          <p:nvPr>
            <p:ph idx="1"/>
          </p:nvPr>
        </p:nvSpPr>
        <p:spPr>
          <a:xfrm>
            <a:off x="514184" y="1563755"/>
            <a:ext cx="10890928" cy="4717203"/>
          </a:xfrm>
        </p:spPr>
        <p:txBody>
          <a:bodyPr>
            <a:normAutofit fontScale="47500" lnSpcReduction="20000"/>
          </a:bodyPr>
          <a:lstStyle/>
          <a:p>
            <a:r>
              <a:rPr lang="fr-FR" dirty="0"/>
              <a:t>1- Extraction du modèle avec Pickle</a:t>
            </a:r>
          </a:p>
          <a:p>
            <a:r>
              <a:rPr lang="fr-FR" dirty="0"/>
              <a:t>2- Intégration du modèle dans l'IHM avec Flask</a:t>
            </a:r>
          </a:p>
          <a:p>
            <a:r>
              <a:rPr lang="fr-FR" dirty="0"/>
              <a:t>3- Création d'une image locale avec Docker</a:t>
            </a:r>
          </a:p>
          <a:p>
            <a:endParaRPr lang="fr-FR" dirty="0"/>
          </a:p>
          <a:p>
            <a:r>
              <a:rPr lang="fr-FR" dirty="0"/>
              <a:t>GitHub :</a:t>
            </a:r>
          </a:p>
          <a:p>
            <a:r>
              <a:rPr lang="fr-FR" dirty="0"/>
              <a:t>4- Création de la pipeline CI pour créer une image avec les modifications</a:t>
            </a:r>
          </a:p>
          <a:p>
            <a:r>
              <a:rPr lang="fr-FR" dirty="0"/>
              <a:t>5- Création de la pipeline CD pour déployer l'image </a:t>
            </a:r>
            <a:r>
              <a:rPr lang="fr-FR" dirty="0" err="1"/>
              <a:t>DockerHub</a:t>
            </a:r>
            <a:endParaRPr lang="fr-FR" dirty="0"/>
          </a:p>
          <a:p>
            <a:endParaRPr lang="fr-FR" dirty="0"/>
          </a:p>
          <a:p>
            <a:r>
              <a:rPr lang="fr-FR" dirty="0"/>
              <a:t>AWS : </a:t>
            </a:r>
          </a:p>
          <a:p>
            <a:r>
              <a:rPr lang="fr-FR" dirty="0"/>
              <a:t>6- Création d'un rôle via IAM</a:t>
            </a:r>
          </a:p>
          <a:p>
            <a:r>
              <a:rPr lang="fr-FR" dirty="0"/>
              <a:t>7- Création d'un registre via ECR</a:t>
            </a:r>
          </a:p>
          <a:p>
            <a:r>
              <a:rPr lang="fr-FR" dirty="0"/>
              <a:t>8- Push manuel de l'image docker sur AWS</a:t>
            </a:r>
          </a:p>
          <a:p>
            <a:r>
              <a:rPr lang="fr-FR" dirty="0"/>
              <a:t>9- Création d'un cluster via ECS</a:t>
            </a:r>
          </a:p>
          <a:p>
            <a:r>
              <a:rPr lang="fr-FR" dirty="0"/>
              <a:t>10- Création d'une tâche via ECS</a:t>
            </a:r>
          </a:p>
          <a:p>
            <a:endParaRPr lang="fr-FR" dirty="0"/>
          </a:p>
          <a:p>
            <a:r>
              <a:rPr lang="fr-FR" dirty="0"/>
              <a:t>GitHub :</a:t>
            </a:r>
          </a:p>
          <a:p>
            <a:r>
              <a:rPr lang="fr-FR" dirty="0"/>
              <a:t>11- Création de la pipeline CD pour déployer sur AWS et mettre en ligne l'application</a:t>
            </a:r>
          </a:p>
          <a:p>
            <a:endParaRPr lang="fr-FR" dirty="0"/>
          </a:p>
        </p:txBody>
      </p:sp>
      <p:grpSp>
        <p:nvGrpSpPr>
          <p:cNvPr id="4" name="Group 7">
            <a:extLst>
              <a:ext uri="{FF2B5EF4-FFF2-40B4-BE49-F238E27FC236}">
                <a16:creationId xmlns:a16="http://schemas.microsoft.com/office/drawing/2014/main" id="{1493BEFE-BA18-313B-A4A6-33A211899738}"/>
              </a:ext>
            </a:extLst>
          </p:cNvPr>
          <p:cNvGrpSpPr/>
          <p:nvPr/>
        </p:nvGrpSpPr>
        <p:grpSpPr>
          <a:xfrm>
            <a:off x="271670" y="205281"/>
            <a:ext cx="1767395" cy="666230"/>
            <a:chOff x="0" y="0"/>
            <a:chExt cx="5603084" cy="2112116"/>
          </a:xfrm>
        </p:grpSpPr>
        <p:sp>
          <p:nvSpPr>
            <p:cNvPr id="5" name="Freeform 8">
              <a:extLst>
                <a:ext uri="{FF2B5EF4-FFF2-40B4-BE49-F238E27FC236}">
                  <a16:creationId xmlns:a16="http://schemas.microsoft.com/office/drawing/2014/main" id="{7C32DC87-FF58-9A6E-10DA-47E932312991}"/>
                </a:ext>
              </a:extLst>
            </p:cNvPr>
            <p:cNvSpPr/>
            <p:nvPr/>
          </p:nvSpPr>
          <p:spPr>
            <a:xfrm>
              <a:off x="0" y="0"/>
              <a:ext cx="5603113" cy="2112137"/>
            </a:xfrm>
            <a:custGeom>
              <a:avLst/>
              <a:gdLst/>
              <a:ahLst/>
              <a:cxnLst/>
              <a:rect l="l" t="t" r="r" b="b"/>
              <a:pathLst>
                <a:path w="5603113" h="2112137">
                  <a:moveTo>
                    <a:pt x="0" y="0"/>
                  </a:moveTo>
                  <a:lnTo>
                    <a:pt x="5603113" y="0"/>
                  </a:lnTo>
                  <a:lnTo>
                    <a:pt x="5603113" y="2112137"/>
                  </a:lnTo>
                  <a:lnTo>
                    <a:pt x="0" y="2112137"/>
                  </a:lnTo>
                  <a:lnTo>
                    <a:pt x="0" y="0"/>
                  </a:lnTo>
                  <a:close/>
                </a:path>
              </a:pathLst>
            </a:custGeom>
            <a:blipFill>
              <a:blip r:embed="rId2"/>
              <a:stretch>
                <a:fillRect l="-53" r="-52"/>
              </a:stretch>
            </a:blipFill>
          </p:spPr>
          <p:txBody>
            <a:bodyPr/>
            <a:lstStyle/>
            <a:p>
              <a:endParaRPr lang="fr-FR"/>
            </a:p>
          </p:txBody>
        </p:sp>
      </p:grpSp>
    </p:spTree>
    <p:extLst>
      <p:ext uri="{BB962C8B-B14F-4D97-AF65-F5344CB8AC3E}">
        <p14:creationId xmlns:p14="http://schemas.microsoft.com/office/powerpoint/2010/main" val="3304808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57A3D-DBEF-0960-1F09-87A17DD891BA}"/>
              </a:ext>
            </a:extLst>
          </p:cNvPr>
          <p:cNvSpPr>
            <a:spLocks noGrp="1"/>
          </p:cNvSpPr>
          <p:nvPr>
            <p:ph type="title"/>
          </p:nvPr>
        </p:nvSpPr>
        <p:spPr>
          <a:xfrm>
            <a:off x="2680915" y="325250"/>
            <a:ext cx="6986546" cy="666237"/>
          </a:xfrm>
        </p:spPr>
        <p:txBody>
          <a:bodyPr>
            <a:normAutofit/>
          </a:bodyPr>
          <a:lstStyle/>
          <a:p>
            <a:r>
              <a:rPr lang="fr-FR" sz="2800" dirty="0"/>
              <a:t>GitHub</a:t>
            </a:r>
          </a:p>
        </p:txBody>
      </p:sp>
      <p:sp>
        <p:nvSpPr>
          <p:cNvPr id="3" name="Espace réservé du contenu 2">
            <a:extLst>
              <a:ext uri="{FF2B5EF4-FFF2-40B4-BE49-F238E27FC236}">
                <a16:creationId xmlns:a16="http://schemas.microsoft.com/office/drawing/2014/main" id="{1A2F7F9E-3236-CF29-AB77-402C2F2F8E8A}"/>
              </a:ext>
            </a:extLst>
          </p:cNvPr>
          <p:cNvSpPr>
            <a:spLocks noGrp="1"/>
          </p:cNvSpPr>
          <p:nvPr>
            <p:ph idx="1"/>
          </p:nvPr>
        </p:nvSpPr>
        <p:spPr>
          <a:xfrm>
            <a:off x="514184" y="1563755"/>
            <a:ext cx="10890928" cy="4717203"/>
          </a:xfrm>
        </p:spPr>
        <p:txBody>
          <a:bodyPr>
            <a:normAutofit/>
          </a:bodyPr>
          <a:lstStyle/>
          <a:p>
            <a:r>
              <a:rPr lang="fr-FR" dirty="0"/>
              <a:t>Lien: https://github.com/Atji00/FricMlops.git</a:t>
            </a:r>
          </a:p>
        </p:txBody>
      </p:sp>
      <p:grpSp>
        <p:nvGrpSpPr>
          <p:cNvPr id="4" name="Group 7">
            <a:extLst>
              <a:ext uri="{FF2B5EF4-FFF2-40B4-BE49-F238E27FC236}">
                <a16:creationId xmlns:a16="http://schemas.microsoft.com/office/drawing/2014/main" id="{1493BEFE-BA18-313B-A4A6-33A211899738}"/>
              </a:ext>
            </a:extLst>
          </p:cNvPr>
          <p:cNvGrpSpPr/>
          <p:nvPr/>
        </p:nvGrpSpPr>
        <p:grpSpPr>
          <a:xfrm>
            <a:off x="271670" y="205281"/>
            <a:ext cx="1767395" cy="666230"/>
            <a:chOff x="0" y="0"/>
            <a:chExt cx="5603084" cy="2112116"/>
          </a:xfrm>
        </p:grpSpPr>
        <p:sp>
          <p:nvSpPr>
            <p:cNvPr id="5" name="Freeform 8">
              <a:extLst>
                <a:ext uri="{FF2B5EF4-FFF2-40B4-BE49-F238E27FC236}">
                  <a16:creationId xmlns:a16="http://schemas.microsoft.com/office/drawing/2014/main" id="{7C32DC87-FF58-9A6E-10DA-47E932312991}"/>
                </a:ext>
              </a:extLst>
            </p:cNvPr>
            <p:cNvSpPr/>
            <p:nvPr/>
          </p:nvSpPr>
          <p:spPr>
            <a:xfrm>
              <a:off x="0" y="0"/>
              <a:ext cx="5603113" cy="2112137"/>
            </a:xfrm>
            <a:custGeom>
              <a:avLst/>
              <a:gdLst/>
              <a:ahLst/>
              <a:cxnLst/>
              <a:rect l="l" t="t" r="r" b="b"/>
              <a:pathLst>
                <a:path w="5603113" h="2112137">
                  <a:moveTo>
                    <a:pt x="0" y="0"/>
                  </a:moveTo>
                  <a:lnTo>
                    <a:pt x="5603113" y="0"/>
                  </a:lnTo>
                  <a:lnTo>
                    <a:pt x="5603113" y="2112137"/>
                  </a:lnTo>
                  <a:lnTo>
                    <a:pt x="0" y="2112137"/>
                  </a:lnTo>
                  <a:lnTo>
                    <a:pt x="0" y="0"/>
                  </a:lnTo>
                  <a:close/>
                </a:path>
              </a:pathLst>
            </a:custGeom>
            <a:blipFill>
              <a:blip r:embed="rId2"/>
              <a:stretch>
                <a:fillRect l="-53" r="-52"/>
              </a:stretch>
            </a:blipFill>
          </p:spPr>
          <p:txBody>
            <a:bodyPr/>
            <a:lstStyle/>
            <a:p>
              <a:endParaRPr lang="fr-FR"/>
            </a:p>
          </p:txBody>
        </p:sp>
      </p:grpSp>
      <p:pic>
        <p:nvPicPr>
          <p:cNvPr id="7" name="Image 6">
            <a:extLst>
              <a:ext uri="{FF2B5EF4-FFF2-40B4-BE49-F238E27FC236}">
                <a16:creationId xmlns:a16="http://schemas.microsoft.com/office/drawing/2014/main" id="{37B7E8E6-30F6-C62B-3364-2B6CFD7E5820}"/>
              </a:ext>
            </a:extLst>
          </p:cNvPr>
          <p:cNvPicPr>
            <a:picLocks noChangeAspect="1"/>
          </p:cNvPicPr>
          <p:nvPr/>
        </p:nvPicPr>
        <p:blipFill>
          <a:blip r:embed="rId3"/>
          <a:stretch>
            <a:fillRect/>
          </a:stretch>
        </p:blipFill>
        <p:spPr>
          <a:xfrm>
            <a:off x="749646" y="2398542"/>
            <a:ext cx="2578855" cy="3552092"/>
          </a:xfrm>
          <a:prstGeom prst="rect">
            <a:avLst/>
          </a:prstGeom>
        </p:spPr>
      </p:pic>
      <p:pic>
        <p:nvPicPr>
          <p:cNvPr id="9" name="Image 8">
            <a:extLst>
              <a:ext uri="{FF2B5EF4-FFF2-40B4-BE49-F238E27FC236}">
                <a16:creationId xmlns:a16="http://schemas.microsoft.com/office/drawing/2014/main" id="{DEDA3BE6-7915-E0CC-DE1D-B4967A642C89}"/>
              </a:ext>
            </a:extLst>
          </p:cNvPr>
          <p:cNvPicPr>
            <a:picLocks noChangeAspect="1"/>
          </p:cNvPicPr>
          <p:nvPr/>
        </p:nvPicPr>
        <p:blipFill>
          <a:blip r:embed="rId4"/>
          <a:stretch>
            <a:fillRect/>
          </a:stretch>
        </p:blipFill>
        <p:spPr>
          <a:xfrm>
            <a:off x="3506835" y="2398542"/>
            <a:ext cx="2174722" cy="2363607"/>
          </a:xfrm>
          <a:prstGeom prst="rect">
            <a:avLst/>
          </a:prstGeom>
        </p:spPr>
      </p:pic>
      <p:pic>
        <p:nvPicPr>
          <p:cNvPr id="11" name="Image 10">
            <a:extLst>
              <a:ext uri="{FF2B5EF4-FFF2-40B4-BE49-F238E27FC236}">
                <a16:creationId xmlns:a16="http://schemas.microsoft.com/office/drawing/2014/main" id="{ADE02A18-95CF-5913-4381-DDF9B61E20CF}"/>
              </a:ext>
            </a:extLst>
          </p:cNvPr>
          <p:cNvPicPr>
            <a:picLocks noChangeAspect="1"/>
          </p:cNvPicPr>
          <p:nvPr/>
        </p:nvPicPr>
        <p:blipFill>
          <a:blip r:embed="rId5"/>
          <a:stretch>
            <a:fillRect/>
          </a:stretch>
        </p:blipFill>
        <p:spPr>
          <a:xfrm>
            <a:off x="5859892" y="2398542"/>
            <a:ext cx="1918996" cy="3636499"/>
          </a:xfrm>
          <a:prstGeom prst="rect">
            <a:avLst/>
          </a:prstGeom>
        </p:spPr>
      </p:pic>
      <p:pic>
        <p:nvPicPr>
          <p:cNvPr id="13" name="Image 12">
            <a:extLst>
              <a:ext uri="{FF2B5EF4-FFF2-40B4-BE49-F238E27FC236}">
                <a16:creationId xmlns:a16="http://schemas.microsoft.com/office/drawing/2014/main" id="{A47CF5F2-7215-BB44-BAF1-355C40B9E276}"/>
              </a:ext>
            </a:extLst>
          </p:cNvPr>
          <p:cNvPicPr>
            <a:picLocks noChangeAspect="1"/>
          </p:cNvPicPr>
          <p:nvPr/>
        </p:nvPicPr>
        <p:blipFill>
          <a:blip r:embed="rId6"/>
          <a:stretch>
            <a:fillRect/>
          </a:stretch>
        </p:blipFill>
        <p:spPr>
          <a:xfrm>
            <a:off x="8384817" y="2243797"/>
            <a:ext cx="1726214" cy="4128868"/>
          </a:xfrm>
          <a:prstGeom prst="rect">
            <a:avLst/>
          </a:prstGeom>
        </p:spPr>
      </p:pic>
    </p:spTree>
    <p:extLst>
      <p:ext uri="{BB962C8B-B14F-4D97-AF65-F5344CB8AC3E}">
        <p14:creationId xmlns:p14="http://schemas.microsoft.com/office/powerpoint/2010/main" val="261168022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52</TotalTime>
  <Words>219</Words>
  <Application>Microsoft Office PowerPoint</Application>
  <PresentationFormat>Grand écran</PresentationFormat>
  <Paragraphs>28</Paragraphs>
  <Slides>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Daytona</vt:lpstr>
      <vt:lpstr>Grandview Display</vt:lpstr>
      <vt:lpstr>DashVTI</vt:lpstr>
      <vt:lpstr>MLOps  Lien AWS : http://16.16.78.34:5000</vt:lpstr>
      <vt:lpstr>SUJET : Loan Default Prediction </vt:lpstr>
      <vt:lpstr>Random Forest experiment</vt:lpstr>
      <vt:lpstr>Decision Three experiment</vt:lpstr>
      <vt:lpstr>XGBoost experiment</vt:lpstr>
      <vt:lpstr>Méthodologie</vt:lpstr>
      <vt:lpstr>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Ilias B</dc:creator>
  <cp:lastModifiedBy>Ilias B</cp:lastModifiedBy>
  <cp:revision>6</cp:revision>
  <dcterms:created xsi:type="dcterms:W3CDTF">2025-03-10T16:53:12Z</dcterms:created>
  <dcterms:modified xsi:type="dcterms:W3CDTF">2025-03-23T14:52:00Z</dcterms:modified>
</cp:coreProperties>
</file>